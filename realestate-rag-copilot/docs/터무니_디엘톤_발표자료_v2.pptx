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터를 읽고, 무니를 더하다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기반 RAG · 멀티 에이전트 의사결정 코파일럿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3657600" cy="0"/>
          </a:xfrm>
          <a:prstGeom prst="line">
            <a:avLst/>
          </a:prstGeom>
          <a:noFill/>
          <a:ln w="38100">
            <a:solidFill>
              <a:srgbClr val="C9A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DLthon 2026.06 · 부동산에서 창업·상가까지 의사결정을 종합한다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복덕방스 (Bokdeokbangs) — 부동산·창업 분야의 컨설팅 &amp; 데이터 통합 실험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복덕방스의 전제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아니라 과정이 90%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디엘톤은 등수가 아니라 '각자의 공부'를 위해 달렸습니다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평가 6가지 항목(EDA · 전처리 · 모델 · 성능 · Metric · 시도) 각각을 "우리 식으로" 다시 정의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한계 = 패배가 아니라 다음 학습 — 4일차에 노선 변경 (Trust Ark → 터무니)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발표는 "우리가 무엇을 시도했고 무엇을 배웠나"의 회고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코드와 컨설팅의 결합 — 부동산·창업 도메인에서 데이터·LLM·Agent가 어떻게 결합되는지 실험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선정 — 투표가 아닌 정밀 분석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① EDA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가장 효과적으로 쓸 6개 후보를 하나씩 뜯어봤다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10332720" cy="3200400"/>
        </p:xfrm>
        <a:graphic>
          <a:graphicData uri="http://schemas.openxmlformats.org/drawingml/2006/table">
            <a:tbl>
              <a:tblPr/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후보 주제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적합성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가용성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선정 사유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임차 안전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선정 — 법령·등기·실거래 RAG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인허가·규제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추가 — 식품위생·풍속 법령 풍부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 활용성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추가 — 공통 인프라 재활용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 종목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RAG 효과 약함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건강·의료 상담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데이터 윤리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 자문 봇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책임 부담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데이터·API 수집 — 첫날부터 쉬는 날까지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② 전처리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맡은 공공 API를 긁어모으는 데만 3일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10332720" cy="347472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/ API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위치·좌표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Naver Geocoding · VWorld · TMAP POI · 법정동코드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 → 좌표·POI 변환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data.go.kr 실거래가 (전월세·매매)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ROI 추정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건축HUB 표제부 + LURIS 토지이용계획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용도·층수·정화구역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CODEF 등기부등본 자동 발급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근저당·신탁·압류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 상권분석 4 endpoint (유동·매출·점포·신규폐업)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평균 데이터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 상권정보 + TMAP + Naver Local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동종업종 N건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NEIS 학교알리미 + VWorld POI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정화구역 50/200m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법령·조례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법제처 OC · ELIS 자치법규 · 자체 RAG 인덱스 5문서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Agentic RAG 인용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분위기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Naver 웹·뉴스·로컬 · X API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동네 분위기·이슈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15+ 외부 API + 5 LLM 모델 + 자체 RAG 인덱스 26 청크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킥 — 14 Agent + 5 LLM 합주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위에 Agent를 얹은 '샌드위치' 구조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solidFill>
            <a:srgbClr val="2D4F3A"/>
          </a:solidFill>
          <a:ln w="12700">
            <a:solidFill>
              <a:srgbClr val="2D4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LLM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Planner — 의도 분류 + 실행계획 (gpt-4o-mini · forced function-call)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solidFill>
            <a:srgbClr val="C9A455"/>
          </a:solidFill>
          <a:ln w="12700">
            <a:solidFill>
              <a:srgbClr val="C9A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LLM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2402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Agentic RAG — Phase 1~5 모두 적용 (도메인 라우팅·쿼리 리라이팅·Hybrid·Self·Graph)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결정론 수집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9260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데이터 Agent 9종 — 좌표·시세·건축·등기·상권·매장·학교·법령·외부검색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solidFill>
            <a:srgbClr val="A66060"/>
          </a:solidFill>
          <a:ln w="12700">
            <a:solidFill>
              <a:srgbClr val="A66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6118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Decision (gpt-4o-mini) — go/conditional/stop · ⑤ Summarizer (gpt-4o) — 자연어 요약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solidFill>
            <a:srgbClr val="8E8B85"/>
          </a:solidFill>
          <a:ln w="12700">
            <a:solidFill>
              <a:srgbClr val="8E8B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검증·기록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4297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Validation — 단정 차단 · ⑦ Trace Recorder — 14 Agent 호출 로그 실시간 공개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위·아래에서 의도와 결론만 담당, 가운데는 결정론적 데이터 — 환각 최소화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① Planner · ② Agentic RAG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의도를 읽고, 지식을 똑똑하게 검색한다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Planner — 너의 생각이 뭐냐?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gpt-4o-mini · forced function-call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사용자 자유 질문 → 의도 분류 (intent_tags)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모드별 execution_plan 자동 생성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어느 Agent를 어떤 우선순위로 호출할지 결정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tool calling으로 JSON 강제 (자유 텍스트 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Agentic RAG — Phase 1+2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Pre-retrieval Advanced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Phase 1: 임베딩 (text-embedding-3-small) + cosine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Phase 2 - 도메인 자동 라우팅: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창업 → [law, ordinance, contract]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상가 → [ordinance, contract, law]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부동산 → [contract, case]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Phase 2 - LLM 쿼리 리라이팅: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"강남에 카페 차리려는데" → "강남구 휴게음식점 인허가 규제"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인덱스 26 청크 (식품위생·풍속·임대차·전세사기·자치구 조례)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Phase 3·4·5는 다음 슬라이드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Naive에서 GraphRAG까지 — 5단계 모두 적용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디엘톤 1~2일 안에 Phase 3·4·5 추가 구현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320040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시점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Naive RAG — 임베딩 + cosine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의미 검색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-3일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도메인 라우팅 + LLM 쿼리 리라이팅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매칭률 30~50% 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-3일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Hybrid (BM25 + Vector + RRF) + LLM Reranker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lexical + semantic 양쪽 잡음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-1일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Self-RAG (confidence) + Corrective (재검색)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부족 시 자동 보완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-1일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GraphRAG — 청크 그래프 traversal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법령↔조례↔사례 연관 자동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-1일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solidFill>
            <a:srgbClr val="2D4F3A"/>
          </a:solidFill>
          <a:ln w="12700">
            <a:solidFill>
              <a:srgbClr val="2D4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5212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Naive RAG가 아닌 Phase 5 GraphRAG까지 모두 적용된 Agentic RAG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③ Decision · ④ Summarizer · ⑤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종합해 결론을 내고, 사람의 말로 옮기고, 단정은 막는다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10332720" cy="210312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Decision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 결과 종합 → 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gpt-4o-mini (JSON)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verdict · reasons · next_actions · red_flags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Summarizer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자연어 요약 (부동산 모드)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summary 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Validation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단정 차단 + warnings 첨부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검증 (deterministic)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warnings · runtime_fallback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Card 출력 예시 (강남 카페 창업)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solidFill>
            <a:srgbClr val="F0EB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"go"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headline: "강남구 카페 창업 가능, 즉시 진행 추천"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reasons: ["건축물 제2종근생 ✓", "200m 카페 37건 (경쟁 심함)", "평일 유동 70만", "매출 6.9억"]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next_actions: ["강남구청 위생과 사전 컨설팅", "휴게음식점 영업신고", "위생교육 6시간 수료", "임대인 동의서 확보"]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red_flags: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action_links: [강남구청 · 식약처 식품안전나라 · 위생교육 · ELIS 자치법규]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— Task에 맞는 모델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비싸고 좋은 모델 하나가 아니라, 단계별로 다른 모델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10332720" cy="347472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토큰 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Planner / Decision / Reranker / Self-RAG / Query Rewriter / Relevance Filter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gpt-4o-mini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빠르고 저렴 · JSON 출력 강함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$0.15 / 1M tokens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Summarizer (부동산)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문맥 + 자연스러운 한국어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$2.50 / 1M tokens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임베딩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text-embedding-3-small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대비 정확도 최고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$0.02 / 1M tokens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1회 총 비용 추정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₩10~50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(LLM만, 공공 API 무료)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모델 하나"가 아니라 "적합한 모델의 합주"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향상 — 논리적으로 접근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③ 성능 · 정확도가 아니라 '신뢰할 수 있는 답'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쿼리 리라이팅 + 도메인 라우팅으로 매칭률 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Hybrid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9385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+ Vector + RRF — lexical + semantic 양쪽 잡음 ★ Phase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22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Reranker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32257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gpt-4o-mini top 20 → top 5 재순위 (Cohere/BGE 대체) ★ Phase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Self-RAG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70662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confidence 자체 평가 + missing_aspects 추출 ★ Phase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90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Corrective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30906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confidence &lt; 0.6 시 쿼리 보강 후 재검색 ★ Phase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GraphRAG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474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그래프 — 식품위생법 → 자치구 조례 → 판례 연결 ★ Phase 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58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튜닝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8587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minScore 0.25~0.3 · top-k=5 — noise와 miss 균형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428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24281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누수 차단 — 실패한 데이터는 숫자로 덮지 않고 '없음' 명시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26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정확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46268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KATEC↔WGS84 변환 + TMAP 통합 — 동종업종 매장 누락 해결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1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설명가능성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50109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분해 (누적 막대) · Agent trace 실시간 공개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 Story — 카카오 거절 → TMAP 전환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데이터원 의존 X · 4단 fallback chain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solidFill>
            <a:srgbClr val="A66060"/>
          </a:solidFill>
          <a:ln w="12700">
            <a:solidFill>
              <a:srgbClr val="A66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[1일차]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OPEN_MAP_AND_LOCAL 권한 거절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23160"/>
            <a:ext cx="10332720" cy="640080"/>
          </a:xfrm>
          <a:prstGeom prst="rect">
            <a:avLst/>
          </a:prstGeom>
          <a:solidFill>
            <a:srgbClr val="C9A455"/>
          </a:solidFill>
          <a:ln w="12700">
            <a:solidFill>
              <a:srgbClr val="C9A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[1일차]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즉시 SK TMAP API 발급 (월 50,000건 무료)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solidFill>
            <a:srgbClr val="2D4F3A"/>
          </a:solidFill>
          <a:ln w="12700">
            <a:solidFill>
              <a:srgbClr val="2D4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00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[1일차]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Competition Density 매장 5건 → 37건 (7× 증가)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Competition Density 4단 fallback chain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0순위. ★ SK TMAP POI (좌표+반경+카테고리, 최대 200건)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1순위. Kakao Local (거절 대기 중)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2순위. VWorld Search POI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3순위. 소상공인 상권 API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4순위. Naver Local + vworld geocode (5건 한도 + 거리 필터)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직면 — 벤치마크 "내집스캔"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목표: 주소만 넣으면 '들어가도 안전한지' 알려주기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60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내집스캔 (열람 ₩12,900)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근저당 여부 · 보증보험 가입 여부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집주인의 '다른 집' 보유 현황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대출·전입세대·확정일자 일괄 검증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한국감정원·HUG·등기소 등 다수 데이터 직접 연동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결론: '안전 판정' 자체는 무료로 풀기 어려운 영역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등기·금융권 API 접근은 ₩원당 비용 + 개인정보 동의 필수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solidFill>
            <a:srgbClr val="C9A455"/>
          </a:solidFill>
          <a:ln w="12700">
            <a:solidFill>
              <a:srgbClr val="C9A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4일차 — 우리만의 강점이 살아나는 곳으로 노선 변경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노선 변경 — Trust Ark에서 터무니로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4일차, 데이터 한계를 인정하고 강점이 살아나는 곳으로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바꿨나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안전 판정 → 창업·영업 적합성 + 상가 활용성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"이 자리에서 카페·음식점·PC방 영업 가능?" — 인허가 데이터로 답함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부동산 임차 검토는 그대로 유지 → 3개 모드 통합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같은 코어(좌표·건축물·점수 분해·5 LLM·14 Agent) 공유 → 피벗 비용 최소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"터무니" 의미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 (땅·자리) + 무니 (근거·이유) — '터를 읽고 무니를 더한다'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아닌 근거로 의사결정을 돕는다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킥 — A/B/C 위치 교차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진짜 가치: '어느 자리가 더 좋은가?'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54480"/>
          <a:ext cx="10332720" cy="365760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A안 (강남)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B안 (양천)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C안 (서대문)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판단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CONDITIONAL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CONDITIONAL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동종업종 200m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15건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평일 유동인구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701,448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516,465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583,676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점포당 월 매출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3,632만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1,368만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월 임대료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290만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109만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월 순익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1,888만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712만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회수기간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5.3개월 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종합 점수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33/100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48/100 🏆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33/100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ROI 계산 + 1위 항목 ⭐ 자동 강조 → ₩9,900/월 핵심 가치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 — 무엇으로 잘했다고 말하나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④ Metric · 정답 라벨 없는 문제 → 우리만의 지표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Golden Dataset 10케이스 자체 평가 (gpt-4o-mini as Judge)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94560"/>
          <a:ext cx="10332720" cy="338328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메트릭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Success rate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10/10 케이스 분석 성공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Avg hits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 / 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top-5 평균 결과 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Relevance Score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 / 100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gpt-4o-mini가 매긴 평균 관련성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Hit@5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키워드 top-5 도달률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Citation Accuracy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할루시네이션 0건 (모든 인용 실제 인덱스)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Domain Match Rate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도메인 등장 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Self-RAG Confidence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4 자체 평가 평균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GraphRAG 매칭률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5 연관 청크 첨부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Verdict Accuracy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부동산 모드 verdict 형식 차이 → 개선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8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 배포마다 자동 재측정 → 회귀 방지 · `node scripts/eval-rag.mjs`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 — 하나의 런타임, 세 개의 모드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Route Handler + 14 Agent 멀티 파이프라인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3383280" cy="822960"/>
          </a:xfrm>
          <a:prstGeom prst="rect">
            <a:avLst/>
          </a:prstGeom>
          <a:solidFill>
            <a:srgbClr val="2D4F3A"/>
          </a:solidFill>
          <a:ln w="12700">
            <a:solidFill>
              <a:srgbClr val="2D4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 임차·매수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383280" cy="822960"/>
          </a:xfrm>
          <a:prstGeom prst="rect">
            <a:avLst/>
          </a:prstGeom>
          <a:solidFill>
            <a:srgbClr val="C9A455"/>
          </a:solidFill>
          <a:ln w="12700">
            <a:solidFill>
              <a:srgbClr val="C9A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창업·영업 적합성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0" y="1554480"/>
            <a:ext cx="3383280" cy="822960"/>
          </a:xfrm>
          <a:prstGeom prst="rect">
            <a:avLst/>
          </a:prstGeom>
          <a:solidFill>
            <a:srgbClr val="A66060"/>
          </a:solidFill>
          <a:ln w="12700">
            <a:solidFill>
              <a:srgbClr val="A66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활용성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공통 파이프라인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(주소 · 조건 · 질문)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Planner — 의도 + 실행계획 (gpt-4o-mini)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병렬 실행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· Building · Market · Trade Area · Competition · School · Local Context (9 데이터 Agent)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Agentic RAG — Phase 1~5 (도메인 라우팅 · 쿼리 리라이팅 · Hybrid · Self · Graph)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(gpt-4o-mini) + Summarizer (gpt-4o)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 + Trace Recorder → 최종 응답 + 카드 + 진단 패널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모드가 같은 코어를 공유 → 피벗 비용 최소 · 코드 재사용 80%+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개선할 점 · 향후 업데이트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디엘톤 이후 로드맵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디엘톤 중 해결한 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동종업종 매장 누락 (TMAP 통합)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NEIS 학교 API 간헐 오류 (재시도 + VWorld POI fallback)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빈 카드 정리 (자동 숨김)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카카오 거절 → TMAP 0순위로 전환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Phase 3·4·5 RAG 모두 적용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A/B/C 비교 분석 MVP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자체 평가 메트릭 시스템 구축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발표 후 로드맵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9659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6 — 인덱스 26 → 500 청크 확장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7 — Knowledge Graph DB (Neo4j)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8 — Cohere rerank 정식 통합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9 — 자율 에이전트화 (LLM tool-use loop)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10 — Self-improving RAG (사용자 피드백)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법령·조례 RAG 월 1회 자동 재인덱싱 (cron)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업종 전국 확대 (음식점·카페·미용·학원·PC방)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공인중개사·행정사용 B2B 일괄 검토 모드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입력 폼 (투자금·메뉴 객단가 → 정확 손익분기)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임대인 평판 검색 (등기 + Naver + 분쟁 이력)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4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 — 우리는 무엇을 배웠나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4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복덕방스 · 5일의 학습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데이터의 '양'보다 '구조적 접근 가능성'이 서비스의 천장을 정한다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이길 수 없는 영역은 빨리 인정 — 4일차 피벗이 발표를 살렸다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RAG는 단일 기법이 아닌 5단계 합주 — Phase 1~5 모두 적용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Multi-Agent는 "많은 LLM 호출"이 아닌 "역할 분담의 명확한 설계"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정답 라벨이 없는 문제는 우리만의 지표를 만들어 측정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외부 데이터원 의존 X — 4단 fallback chain으로 견고성 확보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코딩과 컨설팅의 결합 — 부동산·창업에 데이터·LLM·Agent가 어떻게 결합되는지 실험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solidFill>
            <a:srgbClr val="2D4F3A"/>
          </a:solidFill>
          <a:ln w="12700">
            <a:solidFill>
              <a:srgbClr val="2D4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AF7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터를 읽고, 무니를 더한다. — 결과가 아닌 근거로 의사결정을 돕는 코파일럿.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터무니 · Tumuni — DLthon 2026.06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복덕방스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터무니 디엘톤 발표자료</dc:title>
  <dc:subject>PptxGenJS Presentation</dc:subject>
  <dc:creator>터무니 팀</dc:creator>
  <cp:lastModifiedBy>터무니 팀</cp:lastModifiedBy>
  <cp:revision>1</cp:revision>
  <dcterms:created xsi:type="dcterms:W3CDTF">2026-06-05T08:16:05Z</dcterms:created>
  <dcterms:modified xsi:type="dcterms:W3CDTF">2026-06-05T08:16:05Z</dcterms:modified>
</cp:coreProperties>
</file>